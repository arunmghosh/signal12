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Figtree"/>
      <p:regular r:id="rId18"/>
      <p:bold r:id="rId19"/>
      <p:italic r:id="rId20"/>
      <p:boldItalic r:id="rId21"/>
    </p:embeddedFont>
    <p:embeddedFont>
      <p:font typeface="Jost Light"/>
      <p:regular r:id="rId22"/>
      <p:bold r:id="rId23"/>
      <p:italic r:id="rId24"/>
      <p:boldItalic r:id="rId25"/>
    </p:embeddedFont>
    <p:embeddedFont>
      <p:font typeface="Figtree Medium"/>
      <p:regular r:id="rId26"/>
      <p:bold r:id="rId27"/>
      <p:italic r:id="rId28"/>
      <p:boldItalic r:id="rId29"/>
    </p:embeddedFont>
    <p:embeddedFont>
      <p:font typeface="Figtree Light"/>
      <p:regular r:id="rId30"/>
      <p:bold r:id="rId31"/>
      <p:italic r:id="rId32"/>
      <p:boldItalic r:id="rId33"/>
    </p:embeddedFont>
    <p:embeddedFont>
      <p:font typeface="Jos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gtree-italic.fntdata"/><Relationship Id="rId22" Type="http://schemas.openxmlformats.org/officeDocument/2006/relationships/font" Target="fonts/JostLight-regular.fntdata"/><Relationship Id="rId21" Type="http://schemas.openxmlformats.org/officeDocument/2006/relationships/font" Target="fonts/Figtree-boldItalic.fntdata"/><Relationship Id="rId24" Type="http://schemas.openxmlformats.org/officeDocument/2006/relationships/font" Target="fonts/JostLight-italic.fntdata"/><Relationship Id="rId23" Type="http://schemas.openxmlformats.org/officeDocument/2006/relationships/font" Target="fonts/Jost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Medium-regular.fntdata"/><Relationship Id="rId25" Type="http://schemas.openxmlformats.org/officeDocument/2006/relationships/font" Target="fonts/JostLight-boldItalic.fntdata"/><Relationship Id="rId28" Type="http://schemas.openxmlformats.org/officeDocument/2006/relationships/font" Target="fonts/FigtreeMedium-italic.fntdata"/><Relationship Id="rId27" Type="http://schemas.openxmlformats.org/officeDocument/2006/relationships/font" Target="fonts/Figtree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Light-bold.fntdata"/><Relationship Id="rId30" Type="http://schemas.openxmlformats.org/officeDocument/2006/relationships/font" Target="fonts/FigtreeLight-regular.fntdata"/><Relationship Id="rId11" Type="http://schemas.openxmlformats.org/officeDocument/2006/relationships/slide" Target="slides/slide6.xml"/><Relationship Id="rId33" Type="http://schemas.openxmlformats.org/officeDocument/2006/relationships/font" Target="fonts/Figtree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FigtreeLight-italic.fntdata"/><Relationship Id="rId13" Type="http://schemas.openxmlformats.org/officeDocument/2006/relationships/slide" Target="slides/slide8.xml"/><Relationship Id="rId35" Type="http://schemas.openxmlformats.org/officeDocument/2006/relationships/font" Target="fonts/Jost-bold.fntdata"/><Relationship Id="rId12" Type="http://schemas.openxmlformats.org/officeDocument/2006/relationships/slide" Target="slides/slide7.xml"/><Relationship Id="rId34" Type="http://schemas.openxmlformats.org/officeDocument/2006/relationships/font" Target="fonts/Jost-regular.fntdata"/><Relationship Id="rId15" Type="http://schemas.openxmlformats.org/officeDocument/2006/relationships/slide" Target="slides/slide10.xml"/><Relationship Id="rId37" Type="http://schemas.openxmlformats.org/officeDocument/2006/relationships/font" Target="fonts/Jost-boldItalic.fntdata"/><Relationship Id="rId14" Type="http://schemas.openxmlformats.org/officeDocument/2006/relationships/slide" Target="slides/slide9.xml"/><Relationship Id="rId36" Type="http://schemas.openxmlformats.org/officeDocument/2006/relationships/font" Target="fonts/Jos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Figtree-bold.fntdata"/><Relationship Id="rId18" Type="http://schemas.openxmlformats.org/officeDocument/2006/relationships/font" Target="fonts/Figtre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31dcf3b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31dcf3b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31dcf3b3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31dcf3b3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31dcf3b3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f31dcf3b3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31dcf3b3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f31dcf3b3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31dcf3b36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f31dcf3b36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31dcf3b36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31dcf3b36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31dcf3b3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f31dcf3b3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31dcf3b36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f31dcf3b36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4a1ceca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f4a1ceca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31dcf3b36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f31dcf3b36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f31dcf3b36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f31dcf3b36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31dcf3b36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f31dcf3b36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7" l="0" r="0" t="14414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3" type="title"/>
          </p:nvPr>
        </p:nvSpPr>
        <p:spPr>
          <a:xfrm>
            <a:off x="385793" y="75008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RL Models Learn To Collaborate?</a:t>
            </a:r>
            <a:endParaRPr/>
          </a:p>
        </p:txBody>
      </p:sp>
      <p:sp>
        <p:nvSpPr>
          <p:cNvPr id="439" name="Google Shape;439;p48"/>
          <p:cNvSpPr txBox="1"/>
          <p:nvPr/>
        </p:nvSpPr>
        <p:spPr>
          <a:xfrm>
            <a:off x="2962950" y="4251425"/>
            <a:ext cx="32181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By: Arun Ghosh</a:t>
            </a:r>
            <a:endParaRPr sz="24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45" name="Google Shape;445;p49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446" name="Google Shape;446;p49"/>
          <p:cNvSpPr txBox="1"/>
          <p:nvPr>
            <p:ph idx="2" type="title"/>
          </p:nvPr>
        </p:nvSpPr>
        <p:spPr>
          <a:xfrm>
            <a:off x="3154650" y="3487144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47" name="Google Shape;447;p49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INVENTING THE GAME</a:t>
            </a:r>
            <a:endParaRPr/>
          </a:p>
        </p:txBody>
      </p:sp>
      <p:sp>
        <p:nvSpPr>
          <p:cNvPr id="448" name="Google Shape;448;p49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TRAINING THE MODEL</a:t>
            </a:r>
            <a:endParaRPr/>
          </a:p>
        </p:txBody>
      </p:sp>
      <p:sp>
        <p:nvSpPr>
          <p:cNvPr id="449" name="Google Shape;449;p49"/>
          <p:cNvSpPr txBox="1"/>
          <p:nvPr>
            <p:ph idx="7" type="title"/>
          </p:nvPr>
        </p:nvSpPr>
        <p:spPr>
          <a:xfrm>
            <a:off x="3809850" y="25994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450" name="Google Shape;450;p49"/>
          <p:cNvSpPr txBox="1"/>
          <p:nvPr>
            <p:ph idx="8" type="title"/>
          </p:nvPr>
        </p:nvSpPr>
        <p:spPr>
          <a:xfrm>
            <a:off x="3809850" y="3043269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451" name="Google Shape;451;p49"/>
          <p:cNvSpPr txBox="1"/>
          <p:nvPr>
            <p:ph idx="9" type="title"/>
          </p:nvPr>
        </p:nvSpPr>
        <p:spPr>
          <a:xfrm>
            <a:off x="3809850" y="3487144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452" name="Google Shape;452;p49"/>
          <p:cNvSpPr txBox="1"/>
          <p:nvPr>
            <p:ph idx="13" type="title"/>
          </p:nvPr>
        </p:nvSpPr>
        <p:spPr>
          <a:xfrm>
            <a:off x="3154650" y="30436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53" name="Google Shape;453;p49"/>
          <p:cNvSpPr txBox="1"/>
          <p:nvPr>
            <p:ph idx="14" type="title"/>
          </p:nvPr>
        </p:nvSpPr>
        <p:spPr>
          <a:xfrm>
            <a:off x="3154650" y="2600081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54" name="Google Shape;454;p49"/>
          <p:cNvSpPr txBox="1"/>
          <p:nvPr>
            <p:ph idx="15" type="title"/>
          </p:nvPr>
        </p:nvSpPr>
        <p:spPr>
          <a:xfrm>
            <a:off x="3154650" y="21565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55" name="Google Shape;455;p49"/>
          <p:cNvSpPr txBox="1"/>
          <p:nvPr>
            <p:ph idx="16" type="title"/>
          </p:nvPr>
        </p:nvSpPr>
        <p:spPr>
          <a:xfrm>
            <a:off x="3154650" y="1713019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6" name="Google Shape;456;p49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"/>
          <p:cNvSpPr txBox="1"/>
          <p:nvPr>
            <p:ph idx="3" type="title"/>
          </p:nvPr>
        </p:nvSpPr>
        <p:spPr>
          <a:xfrm>
            <a:off x="517475" y="457201"/>
            <a:ext cx="30699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</a:t>
            </a:r>
            <a:endParaRPr/>
          </a:p>
        </p:txBody>
      </p:sp>
      <p:sp>
        <p:nvSpPr>
          <p:cNvPr id="462" name="Google Shape;462;p50"/>
          <p:cNvSpPr txBox="1"/>
          <p:nvPr/>
        </p:nvSpPr>
        <p:spPr>
          <a:xfrm>
            <a:off x="559075" y="1370175"/>
            <a:ext cx="4435500" cy="3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Step beyond learning games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Develop strategy and communication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Will trust develop?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Extends to larger game theory problems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463" name="Google Shape;46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4575" y="1557363"/>
            <a:ext cx="3844623" cy="2028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"/>
          <p:cNvSpPr txBox="1"/>
          <p:nvPr>
            <p:ph idx="3" type="title"/>
          </p:nvPr>
        </p:nvSpPr>
        <p:spPr>
          <a:xfrm>
            <a:off x="517475" y="457201"/>
            <a:ext cx="30699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Signal12</a:t>
            </a:r>
            <a:endParaRPr sz="4500"/>
          </a:p>
        </p:txBody>
      </p:sp>
      <p:sp>
        <p:nvSpPr>
          <p:cNvPr id="469" name="Google Shape;469;p51"/>
          <p:cNvSpPr txBox="1"/>
          <p:nvPr/>
        </p:nvSpPr>
        <p:spPr>
          <a:xfrm>
            <a:off x="4525050" y="1288025"/>
            <a:ext cx="4435500" cy="3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Four players divided into two teams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Numbers 1-12 dealt to the players 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Each round, every player plays a number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Partner sends a signal (H or L)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470" name="Google Shape;470;p51" title="Screenshot 2026-07-07 at 2.12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337338"/>
            <a:ext cx="4220250" cy="3297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"/>
          <p:cNvSpPr/>
          <p:nvPr/>
        </p:nvSpPr>
        <p:spPr>
          <a:xfrm>
            <a:off x="219150" y="1403375"/>
            <a:ext cx="1373100" cy="13938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1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76" name="Google Shape;476;p52"/>
          <p:cNvSpPr/>
          <p:nvPr/>
        </p:nvSpPr>
        <p:spPr>
          <a:xfrm>
            <a:off x="1482300" y="2193450"/>
            <a:ext cx="1641600" cy="13938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1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77" name="Google Shape;477;p52"/>
          <p:cNvSpPr/>
          <p:nvPr/>
        </p:nvSpPr>
        <p:spPr>
          <a:xfrm>
            <a:off x="3063300" y="2433000"/>
            <a:ext cx="1471200" cy="13938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1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78" name="Google Shape;478;p52"/>
          <p:cNvSpPr/>
          <p:nvPr/>
        </p:nvSpPr>
        <p:spPr>
          <a:xfrm>
            <a:off x="4428600" y="1403375"/>
            <a:ext cx="1550400" cy="13938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1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79" name="Google Shape;479;p52"/>
          <p:cNvSpPr/>
          <p:nvPr/>
        </p:nvSpPr>
        <p:spPr>
          <a:xfrm>
            <a:off x="5885800" y="2498400"/>
            <a:ext cx="1772400" cy="13938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1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80" name="Google Shape;480;p52"/>
          <p:cNvSpPr/>
          <p:nvPr/>
        </p:nvSpPr>
        <p:spPr>
          <a:xfrm>
            <a:off x="7365050" y="3475675"/>
            <a:ext cx="1550400" cy="1393800"/>
          </a:xfrm>
          <a:prstGeom prst="roundRect">
            <a:avLst>
              <a:gd fmla="val 3071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>
              <a:schemeClr val="dk1">
                <a:alpha val="5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81" name="Google Shape;481;p52"/>
          <p:cNvSpPr txBox="1"/>
          <p:nvPr>
            <p:ph idx="1" type="body"/>
          </p:nvPr>
        </p:nvSpPr>
        <p:spPr>
          <a:xfrm>
            <a:off x="3272950" y="2558125"/>
            <a:ext cx="11499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Trained On Self-Play</a:t>
            </a:r>
            <a:endParaRPr sz="1800"/>
          </a:p>
        </p:txBody>
      </p:sp>
      <p:sp>
        <p:nvSpPr>
          <p:cNvPr id="482" name="Google Shape;482;p52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03</a:t>
            </a:r>
            <a:endParaRPr sz="1800"/>
          </a:p>
        </p:txBody>
      </p:sp>
      <p:sp>
        <p:nvSpPr>
          <p:cNvPr id="483" name="Google Shape;483;p52"/>
          <p:cNvSpPr txBox="1"/>
          <p:nvPr>
            <p:ph idx="2" type="body"/>
          </p:nvPr>
        </p:nvSpPr>
        <p:spPr>
          <a:xfrm>
            <a:off x="1573425" y="2318575"/>
            <a:ext cx="1550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Card Choice &amp; Signal Agents</a:t>
            </a:r>
            <a:endParaRPr sz="1800"/>
          </a:p>
        </p:txBody>
      </p:sp>
      <p:sp>
        <p:nvSpPr>
          <p:cNvPr id="484" name="Google Shape;484;p52"/>
          <p:cNvSpPr txBox="1"/>
          <p:nvPr>
            <p:ph idx="7" type="subTitle"/>
          </p:nvPr>
        </p:nvSpPr>
        <p:spPr>
          <a:xfrm>
            <a:off x="1775963" y="303042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02</a:t>
            </a:r>
            <a:endParaRPr sz="1800"/>
          </a:p>
        </p:txBody>
      </p:sp>
      <p:sp>
        <p:nvSpPr>
          <p:cNvPr id="485" name="Google Shape;485;p52"/>
          <p:cNvSpPr txBox="1"/>
          <p:nvPr>
            <p:ph idx="3" type="body"/>
          </p:nvPr>
        </p:nvSpPr>
        <p:spPr>
          <a:xfrm>
            <a:off x="305550" y="1524450"/>
            <a:ext cx="12003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Develop Architecture</a:t>
            </a:r>
            <a:endParaRPr sz="1800"/>
          </a:p>
        </p:txBody>
      </p:sp>
      <p:sp>
        <p:nvSpPr>
          <p:cNvPr id="486" name="Google Shape;486;p52"/>
          <p:cNvSpPr txBox="1"/>
          <p:nvPr>
            <p:ph idx="8" type="subTitle"/>
          </p:nvPr>
        </p:nvSpPr>
        <p:spPr>
          <a:xfrm>
            <a:off x="326063" y="22403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01</a:t>
            </a:r>
            <a:endParaRPr sz="1800"/>
          </a:p>
        </p:txBody>
      </p:sp>
      <p:sp>
        <p:nvSpPr>
          <p:cNvPr id="487" name="Google Shape;487;p52"/>
          <p:cNvSpPr txBox="1"/>
          <p:nvPr>
            <p:ph idx="4" type="body"/>
          </p:nvPr>
        </p:nvSpPr>
        <p:spPr>
          <a:xfrm>
            <a:off x="4618950" y="1524450"/>
            <a:ext cx="1255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Signal Hand Correlation</a:t>
            </a:r>
            <a:endParaRPr sz="1800"/>
          </a:p>
        </p:txBody>
      </p:sp>
      <p:sp>
        <p:nvSpPr>
          <p:cNvPr id="488" name="Google Shape;488;p52"/>
          <p:cNvSpPr txBox="1"/>
          <p:nvPr>
            <p:ph idx="9" type="subTitle"/>
          </p:nvPr>
        </p:nvSpPr>
        <p:spPr>
          <a:xfrm>
            <a:off x="4735888" y="22403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04</a:t>
            </a:r>
            <a:endParaRPr sz="1800"/>
          </a:p>
        </p:txBody>
      </p:sp>
      <p:sp>
        <p:nvSpPr>
          <p:cNvPr id="489" name="Google Shape;489;p52"/>
          <p:cNvSpPr txBox="1"/>
          <p:nvPr>
            <p:ph idx="5" type="body"/>
          </p:nvPr>
        </p:nvSpPr>
        <p:spPr>
          <a:xfrm>
            <a:off x="6016500" y="2613300"/>
            <a:ext cx="16416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Hyperparameter Tuning</a:t>
            </a:r>
            <a:endParaRPr sz="1800"/>
          </a:p>
        </p:txBody>
      </p:sp>
      <p:sp>
        <p:nvSpPr>
          <p:cNvPr id="490" name="Google Shape;490;p52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05</a:t>
            </a:r>
            <a:endParaRPr sz="1800"/>
          </a:p>
        </p:txBody>
      </p:sp>
      <p:sp>
        <p:nvSpPr>
          <p:cNvPr id="491" name="Google Shape;491;p52"/>
          <p:cNvSpPr txBox="1"/>
          <p:nvPr>
            <p:ph idx="15" type="body"/>
          </p:nvPr>
        </p:nvSpPr>
        <p:spPr>
          <a:xfrm>
            <a:off x="7606075" y="3587250"/>
            <a:ext cx="1255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Evaluate v.s.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Random</a:t>
            </a:r>
            <a:endParaRPr sz="1800"/>
          </a:p>
        </p:txBody>
      </p:sp>
      <p:sp>
        <p:nvSpPr>
          <p:cNvPr id="492" name="Google Shape;492;p52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Step 06</a:t>
            </a:r>
            <a:endParaRPr sz="1800"/>
          </a:p>
        </p:txBody>
      </p:sp>
      <p:sp>
        <p:nvSpPr>
          <p:cNvPr id="493" name="Google Shape;493;p52"/>
          <p:cNvSpPr txBox="1"/>
          <p:nvPr>
            <p:ph idx="17" type="title"/>
          </p:nvPr>
        </p:nvSpPr>
        <p:spPr>
          <a:xfrm>
            <a:off x="517475" y="457200"/>
            <a:ext cx="46566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Training Process</a:t>
            </a:r>
            <a:endParaRPr sz="4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5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50" y="152400"/>
            <a:ext cx="78253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4"/>
          <p:cNvSpPr txBox="1"/>
          <p:nvPr>
            <p:ph idx="14" type="title"/>
          </p:nvPr>
        </p:nvSpPr>
        <p:spPr>
          <a:xfrm>
            <a:off x="517475" y="457200"/>
            <a:ext cx="46566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Evaluation</a:t>
            </a:r>
            <a:endParaRPr sz="4500"/>
          </a:p>
        </p:txBody>
      </p:sp>
      <p:sp>
        <p:nvSpPr>
          <p:cNvPr id="504" name="Google Shape;504;p54"/>
          <p:cNvSpPr txBox="1"/>
          <p:nvPr/>
        </p:nvSpPr>
        <p:spPr>
          <a:xfrm>
            <a:off x="559075" y="1370175"/>
            <a:ext cx="5278500" cy="3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Trial 1: beats random 60% of the time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Tried learning signal and card choice separately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Trial 2: beats random 54% of the time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Little evidence of learning communication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05" name="Google Shape;505;p54"/>
          <p:cNvPicPr preferRelativeResize="0"/>
          <p:nvPr/>
        </p:nvPicPr>
        <p:blipFill rotWithShape="1">
          <a:blip r:embed="rId3">
            <a:alphaModFix/>
          </a:blip>
          <a:srcRect b="0" l="39799" r="2537" t="0"/>
          <a:stretch/>
        </p:blipFill>
        <p:spPr>
          <a:xfrm>
            <a:off x="5837575" y="790913"/>
            <a:ext cx="3077825" cy="3561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5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50" y="152400"/>
            <a:ext cx="78253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5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50" y="152400"/>
            <a:ext cx="78253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7"/>
          <p:cNvSpPr txBox="1"/>
          <p:nvPr>
            <p:ph idx="3" type="title"/>
          </p:nvPr>
        </p:nvSpPr>
        <p:spPr>
          <a:xfrm>
            <a:off x="517475" y="457200"/>
            <a:ext cx="46566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Conclusions</a:t>
            </a:r>
            <a:endParaRPr sz="4500"/>
          </a:p>
        </p:txBody>
      </p:sp>
      <p:sp>
        <p:nvSpPr>
          <p:cNvPr id="521" name="Google Shape;521;p57"/>
          <p:cNvSpPr txBox="1"/>
          <p:nvPr/>
        </p:nvSpPr>
        <p:spPr>
          <a:xfrm>
            <a:off x="517475" y="1288025"/>
            <a:ext cx="6452700" cy="3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Need a better way to learn signaling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Signal12 has a large luck component (perhaps Signal 20+ has more strategy)</a:t>
            </a:r>
            <a:b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</a:b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Jost"/>
              <a:buChar char="●"/>
            </a:pPr>
            <a:r>
              <a:rPr lang="en" sz="2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Both trials still surpassed random (slight evidence of learning)</a:t>
            </a:r>
            <a:endParaRPr sz="2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58"/>
          <p:cNvGrpSpPr/>
          <p:nvPr/>
        </p:nvGrpSpPr>
        <p:grpSpPr>
          <a:xfrm>
            <a:off x="242500" y="2484575"/>
            <a:ext cx="8646300" cy="568900"/>
            <a:chOff x="242500" y="2484575"/>
            <a:chExt cx="8646300" cy="568900"/>
          </a:xfrm>
        </p:grpSpPr>
        <p:cxnSp>
          <p:nvCxnSpPr>
            <p:cNvPr id="527" name="Google Shape;527;p58"/>
            <p:cNvCxnSpPr/>
            <p:nvPr/>
          </p:nvCxnSpPr>
          <p:spPr>
            <a:xfrm>
              <a:off x="242500" y="2485600"/>
              <a:ext cx="8646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cxnSp>
          <p:nvCxnSpPr>
            <p:cNvPr id="528" name="Google Shape;528;p58"/>
            <p:cNvCxnSpPr/>
            <p:nvPr/>
          </p:nvCxnSpPr>
          <p:spPr>
            <a:xfrm>
              <a:off x="802675" y="2484575"/>
              <a:ext cx="0" cy="56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9" name="Google Shape;529;p58"/>
            <p:cNvCxnSpPr/>
            <p:nvPr/>
          </p:nvCxnSpPr>
          <p:spPr>
            <a:xfrm>
              <a:off x="3560650" y="2490075"/>
              <a:ext cx="0" cy="56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30" name="Google Shape;530;p58"/>
            <p:cNvCxnSpPr/>
            <p:nvPr/>
          </p:nvCxnSpPr>
          <p:spPr>
            <a:xfrm>
              <a:off x="5010100" y="2490075"/>
              <a:ext cx="0" cy="56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31" name="Google Shape;531;p58"/>
            <p:cNvCxnSpPr/>
            <p:nvPr/>
          </p:nvCxnSpPr>
          <p:spPr>
            <a:xfrm>
              <a:off x="8009650" y="2487995"/>
              <a:ext cx="0" cy="56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sp>
        <p:nvSpPr>
          <p:cNvPr id="532" name="Google Shape;532;p58"/>
          <p:cNvSpPr txBox="1"/>
          <p:nvPr>
            <p:ph idx="4" type="title"/>
          </p:nvPr>
        </p:nvSpPr>
        <p:spPr>
          <a:xfrm>
            <a:off x="91525" y="1935942"/>
            <a:ext cx="14223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33" name="Google Shape;533;p58"/>
          <p:cNvSpPr txBox="1"/>
          <p:nvPr>
            <p:ph idx="5" type="title"/>
          </p:nvPr>
        </p:nvSpPr>
        <p:spPr>
          <a:xfrm>
            <a:off x="2849500" y="1935942"/>
            <a:ext cx="14223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34" name="Google Shape;534;p58"/>
          <p:cNvSpPr txBox="1"/>
          <p:nvPr>
            <p:ph idx="6" type="title"/>
          </p:nvPr>
        </p:nvSpPr>
        <p:spPr>
          <a:xfrm>
            <a:off x="4298950" y="1935942"/>
            <a:ext cx="14223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35" name="Google Shape;535;p58"/>
          <p:cNvSpPr txBox="1"/>
          <p:nvPr>
            <p:ph idx="7" type="title"/>
          </p:nvPr>
        </p:nvSpPr>
        <p:spPr>
          <a:xfrm>
            <a:off x="7298500" y="1935942"/>
            <a:ext cx="14223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36" name="Google Shape;536;p58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RL models learn to play chess</a:t>
            </a:r>
            <a:endParaRPr/>
          </a:p>
        </p:txBody>
      </p:sp>
      <p:sp>
        <p:nvSpPr>
          <p:cNvPr id="537" name="Google Shape;537;p58"/>
          <p:cNvSpPr txBox="1"/>
          <p:nvPr>
            <p:ph idx="14" type="subTitle"/>
          </p:nvPr>
        </p:nvSpPr>
        <p:spPr>
          <a:xfrm>
            <a:off x="2337033" y="3173750"/>
            <a:ext cx="21537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RL models learn to detect amount of strategy in a game</a:t>
            </a:r>
            <a:endParaRPr/>
          </a:p>
        </p:txBody>
      </p:sp>
      <p:sp>
        <p:nvSpPr>
          <p:cNvPr id="538" name="Google Shape;538;p58"/>
          <p:cNvSpPr txBox="1"/>
          <p:nvPr>
            <p:ph idx="17" type="subTitle"/>
          </p:nvPr>
        </p:nvSpPr>
        <p:spPr>
          <a:xfrm>
            <a:off x="4652724" y="3173750"/>
            <a:ext cx="22461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RL models learn to communicate with users in signaling games</a:t>
            </a:r>
            <a:endParaRPr/>
          </a:p>
        </p:txBody>
      </p:sp>
      <p:sp>
        <p:nvSpPr>
          <p:cNvPr id="539" name="Google Shape;539;p58"/>
          <p:cNvSpPr txBox="1"/>
          <p:nvPr>
            <p:ph idx="20" type="subTitle"/>
          </p:nvPr>
        </p:nvSpPr>
        <p:spPr>
          <a:xfrm>
            <a:off x="6857993" y="3172725"/>
            <a:ext cx="20781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RL models used for process simulation / optimization</a:t>
            </a:r>
            <a:endParaRPr/>
          </a:p>
        </p:txBody>
      </p:sp>
      <p:grpSp>
        <p:nvGrpSpPr>
          <p:cNvPr id="540" name="Google Shape;540;p58"/>
          <p:cNvGrpSpPr/>
          <p:nvPr/>
        </p:nvGrpSpPr>
        <p:grpSpPr>
          <a:xfrm>
            <a:off x="3479237" y="1648025"/>
            <a:ext cx="1011600" cy="362700"/>
            <a:chOff x="3556025" y="1833150"/>
            <a:chExt cx="1011600" cy="362700"/>
          </a:xfrm>
        </p:grpSpPr>
        <p:sp>
          <p:nvSpPr>
            <p:cNvPr id="541" name="Google Shape;541;p58"/>
            <p:cNvSpPr/>
            <p:nvPr/>
          </p:nvSpPr>
          <p:spPr>
            <a:xfrm>
              <a:off x="3556025" y="1833150"/>
              <a:ext cx="1011600" cy="2769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Jost"/>
                  <a:ea typeface="Jost"/>
                  <a:cs typeface="Jost"/>
                  <a:sym typeface="Jost"/>
                </a:rPr>
                <a:t>We are here</a:t>
              </a:r>
              <a:endPara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42" name="Google Shape;542;p58"/>
            <p:cNvSpPr/>
            <p:nvPr/>
          </p:nvSpPr>
          <p:spPr>
            <a:xfrm rot="10800000">
              <a:off x="4301625" y="2091150"/>
              <a:ext cx="121200" cy="1047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543" name="Google Shape;543;p58"/>
          <p:cNvSpPr txBox="1"/>
          <p:nvPr>
            <p:ph idx="3" type="title"/>
          </p:nvPr>
        </p:nvSpPr>
        <p:spPr>
          <a:xfrm>
            <a:off x="517475" y="457200"/>
            <a:ext cx="46566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Future Work</a:t>
            </a:r>
            <a:endParaRPr sz="4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9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49" name="Google Shape;549;p59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